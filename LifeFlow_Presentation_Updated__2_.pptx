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73" r:id="rId9"/>
    <p:sldId id="262" r:id="rId10"/>
    <p:sldId id="272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353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640080" cy="514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9492"/>
            <a:ext cx="484632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8102E"/>
                </a:solidFill>
              </a:rPr>
              <a:t>❤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the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Gift of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Life.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Blood Donation 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College Submission  ·  2025–2026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" y="4338828"/>
            <a:ext cx="4389120" cy="68580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7" y="449199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Dhruv Solanki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72059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23001102031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9424" y="4379976"/>
            <a:ext cx="0" cy="566928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05457" y="4489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Govind Desai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47228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23001102022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74920" y="228600"/>
            <a:ext cx="3794760" cy="217627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"/>
            <a:ext cx="3703320" cy="208483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120640" y="2514600"/>
            <a:ext cx="868680" cy="1005840"/>
          </a:xfrm>
          <a:prstGeom prst="rect">
            <a:avLst/>
          </a:prstGeom>
          <a:solidFill>
            <a:srgbClr val="AA000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120640" y="25420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120640" y="29992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44184" y="2514600"/>
            <a:ext cx="868680" cy="1005840"/>
          </a:xfrm>
          <a:prstGeom prst="rect">
            <a:avLst/>
          </a:prstGeom>
          <a:solidFill>
            <a:srgbClr val="AA000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044184" y="25420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044184" y="29992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967728" y="2514600"/>
            <a:ext cx="868680" cy="1005840"/>
          </a:xfrm>
          <a:prstGeom prst="rect">
            <a:avLst/>
          </a:prstGeom>
          <a:solidFill>
            <a:srgbClr val="AA000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967728" y="25420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8+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967728" y="29992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891272" y="2514600"/>
            <a:ext cx="868680" cy="1005840"/>
          </a:xfrm>
          <a:prstGeom prst="rect">
            <a:avLst/>
          </a:prstGeom>
          <a:solidFill>
            <a:srgbClr val="AA000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891272" y="25420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891272" y="29992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120640" y="3703320"/>
            <a:ext cx="86868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Text 31"/>
          <p:cNvSpPr/>
          <p:nvPr/>
        </p:nvSpPr>
        <p:spPr>
          <a:xfrm>
            <a:off x="5120640" y="3703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044184" y="3703320"/>
            <a:ext cx="86868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6" name="Text 33"/>
          <p:cNvSpPr/>
          <p:nvPr/>
        </p:nvSpPr>
        <p:spPr>
          <a:xfrm>
            <a:off x="6044184" y="3703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967728" y="3703320"/>
            <a:ext cx="86868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8" name="Text 35"/>
          <p:cNvSpPr/>
          <p:nvPr/>
        </p:nvSpPr>
        <p:spPr>
          <a:xfrm>
            <a:off x="6967728" y="3703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891272" y="3703320"/>
            <a:ext cx="86868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0" name="Text 37"/>
          <p:cNvSpPr/>
          <p:nvPr/>
        </p:nvSpPr>
        <p:spPr>
          <a:xfrm>
            <a:off x="7891272" y="3703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120640" y="4114800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39"/>
          <p:cNvSpPr/>
          <p:nvPr/>
        </p:nvSpPr>
        <p:spPr>
          <a:xfrm>
            <a:off x="5120640" y="411480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044184" y="4114800"/>
            <a:ext cx="868680" cy="256032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44" name="Text 41"/>
          <p:cNvSpPr/>
          <p:nvPr/>
        </p:nvSpPr>
        <p:spPr>
          <a:xfrm>
            <a:off x="6044184" y="411480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967728" y="4114800"/>
            <a:ext cx="868680" cy="256032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46" name="Text 43"/>
          <p:cNvSpPr/>
          <p:nvPr/>
        </p:nvSpPr>
        <p:spPr>
          <a:xfrm>
            <a:off x="6967728" y="411480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891272" y="4114800"/>
            <a:ext cx="868680" cy="256032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48" name="Text 45"/>
          <p:cNvSpPr/>
          <p:nvPr/>
        </p:nvSpPr>
        <p:spPr>
          <a:xfrm>
            <a:off x="7891272" y="411480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LifeFlow — Blood Donation Platform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60520" cy="2103120"/>
          </a:xfrm>
          <a:prstGeom prst="rect">
            <a:avLst/>
          </a:prstGeom>
          <a:solidFill>
            <a:srgbClr val="FFF0F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118872" cy="2103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🩸  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shortages are a critical healthcare crisis. Patients in emergencies struggle to find compatible donors in time. Existing systems lack real-time coordination, gamification, and smart matching.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45152" y="1207008"/>
            <a:ext cx="4160520" cy="210312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207008"/>
            <a:ext cx="118872" cy="2103120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OUR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 is a full-stack web platform connecting donors, recipients, hospitals and organizations — featuring real-time inventory, interactive maps, AI chat, gamified rewards, blood compatibility checker, and a complete admin panel.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07992" y="1207008"/>
            <a:ext cx="0" cy="2103120"/>
          </a:xfrm>
          <a:prstGeom prst="line">
            <a:avLst/>
          </a:prstGeom>
          <a:noFill/>
          <a:ln w="1524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493008"/>
            <a:ext cx="1554480" cy="804672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7472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39112" y="3493008"/>
            <a:ext cx="1554480" cy="804672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3911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039112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30752" y="3493008"/>
            <a:ext cx="1554480" cy="804672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3075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30752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22392" y="3493008"/>
            <a:ext cx="1554480" cy="804672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2239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22392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14032" y="3493008"/>
            <a:ext cx="1554480" cy="804672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1403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14032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4407408"/>
            <a:ext cx="1554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" y="4407408"/>
            <a:ext cx="155448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39112" y="4407408"/>
            <a:ext cx="1554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9112" y="4407408"/>
            <a:ext cx="155448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Text 33"/>
          <p:cNvSpPr/>
          <p:nvPr/>
        </p:nvSpPr>
        <p:spPr>
          <a:xfrm>
            <a:off x="2039112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Requests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30752" y="4407408"/>
            <a:ext cx="1554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3730752" y="4407408"/>
            <a:ext cx="155448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Text 36"/>
          <p:cNvSpPr/>
          <p:nvPr/>
        </p:nvSpPr>
        <p:spPr>
          <a:xfrm>
            <a:off x="3730752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Rewards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22392" y="4407408"/>
            <a:ext cx="1554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5422392" y="4407408"/>
            <a:ext cx="155448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1" name="Text 39"/>
          <p:cNvSpPr/>
          <p:nvPr/>
        </p:nvSpPr>
        <p:spPr>
          <a:xfrm>
            <a:off x="5422392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14032" y="4407408"/>
            <a:ext cx="1554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Shape 41"/>
          <p:cNvSpPr/>
          <p:nvPr/>
        </p:nvSpPr>
        <p:spPr>
          <a:xfrm>
            <a:off x="7114032" y="4407408"/>
            <a:ext cx="155448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4" name="Text 42"/>
          <p:cNvSpPr/>
          <p:nvPr/>
        </p:nvSpPr>
        <p:spPr>
          <a:xfrm>
            <a:off x="7114032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Hub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 Sanctuary — Login &amp; Registration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01752" y="1069848"/>
            <a:ext cx="4005072" cy="2304288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3913632" cy="22128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3364992"/>
            <a:ext cx="3913632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345643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 Login — Access Sanctuary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" y="3794760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" y="3794760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Secure email + password keycode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" y="4096512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4096512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OAuth one-click login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7472" y="4398264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" y="4398264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Role-based dashboard routing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98848" y="1115568"/>
            <a:ext cx="0" cy="365760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1069848"/>
            <a:ext cx="4005072" cy="2304288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15568"/>
            <a:ext cx="3913632" cy="22128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364992"/>
            <a:ext cx="3913632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5"/>
          <p:cNvSpPr/>
          <p:nvPr/>
        </p:nvSpPr>
        <p:spPr>
          <a:xfrm>
            <a:off x="4892040" y="345643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 Register — New Recruit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892040" y="3794760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1" name="Text 17"/>
          <p:cNvSpPr/>
          <p:nvPr/>
        </p:nvSpPr>
        <p:spPr>
          <a:xfrm>
            <a:off x="5020056" y="3794760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Choose: User/Donor or Organization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892040" y="4096512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3" name="Text 19"/>
          <p:cNvSpPr/>
          <p:nvPr/>
        </p:nvSpPr>
        <p:spPr>
          <a:xfrm>
            <a:off x="5020056" y="4096512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Enter blood group, age &amp; secure keycode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892040" y="4398264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5" name="Text 21"/>
          <p:cNvSpPr/>
          <p:nvPr/>
        </p:nvSpPr>
        <p:spPr>
          <a:xfrm>
            <a:off x="5020056" y="4398264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Complete Enrollment → instant access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Donate Blood. Inspire Humanity.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01752" y="1069848"/>
            <a:ext cx="5303520" cy="3026664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212080" cy="29352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115568"/>
            <a:ext cx="2907792" cy="79552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115568"/>
            <a:ext cx="91440" cy="7955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6"/>
          <p:cNvSpPr/>
          <p:nvPr/>
        </p:nvSpPr>
        <p:spPr>
          <a:xfrm>
            <a:off x="6062472" y="118872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📢  Live Ticker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62472" y="1463040"/>
            <a:ext cx="2679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— units collected, new camps, emergency blood requests city-wise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97880" y="2029968"/>
            <a:ext cx="2907792" cy="79552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2029968"/>
            <a:ext cx="91440" cy="795528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13" name="Text 10"/>
          <p:cNvSpPr/>
          <p:nvPr/>
        </p:nvSpPr>
        <p:spPr>
          <a:xfrm>
            <a:off x="6062472" y="210312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🏥  50+ Verified Hospitals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062472" y="2377440"/>
            <a:ext cx="2679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network badge displayed prominently in the hero section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2944368"/>
            <a:ext cx="2907792" cy="79552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2944368"/>
            <a:ext cx="91440" cy="79552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4"/>
          <p:cNvSpPr/>
          <p:nvPr/>
        </p:nvSpPr>
        <p:spPr>
          <a:xfrm>
            <a:off x="6062472" y="301752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 Live Status — Emergency Active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062472" y="3291840"/>
            <a:ext cx="2679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emergency indicator showing active blood emergencies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3858768"/>
            <a:ext cx="2907792" cy="79552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97880" y="3858768"/>
            <a:ext cx="91440" cy="7955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6062472" y="393192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🌟  Community &amp; Notifications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62472" y="4206240"/>
            <a:ext cx="2679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Community tab + notification bell + profile avatar in navbar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DISCOVERY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Donate Blood? &amp; Donation Camps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28600" y="1124712"/>
            <a:ext cx="4206240" cy="240487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70432"/>
            <a:ext cx="4114800" cy="23134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520440"/>
            <a:ext cx="411480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593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Donate Blood?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3977640"/>
            <a:ext cx="41148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39776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&amp; Safe — Only 10-15 mins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4315968"/>
            <a:ext cx="4114800" cy="30175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3" name="Text 10"/>
          <p:cNvSpPr/>
          <p:nvPr/>
        </p:nvSpPr>
        <p:spPr>
          <a:xfrm>
            <a:off x="384048" y="43159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Free Health Checkup included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74320" y="4654296"/>
            <a:ext cx="41148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465429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One donation saves up to 3 lives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98848" y="1170432"/>
            <a:ext cx="0" cy="35661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124712"/>
            <a:ext cx="4206240" cy="240487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70432"/>
            <a:ext cx="4114800" cy="231343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754880" y="3520440"/>
            <a:ext cx="411480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6"/>
          <p:cNvSpPr/>
          <p:nvPr/>
        </p:nvSpPr>
        <p:spPr>
          <a:xfrm>
            <a:off x="4754880" y="3593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Donation Camps — Live Map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754880" y="3977640"/>
            <a:ext cx="41148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18"/>
          <p:cNvSpPr/>
          <p:nvPr/>
        </p:nvSpPr>
        <p:spPr>
          <a:xfrm>
            <a:off x="4864608" y="39776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Interactive Leaflet.js map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54880" y="4315968"/>
            <a:ext cx="4114800" cy="30175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4" name="Text 20"/>
          <p:cNvSpPr/>
          <p:nvPr/>
        </p:nvSpPr>
        <p:spPr>
          <a:xfrm>
            <a:off x="4864608" y="43159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by name, hospital or city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754880" y="4654296"/>
            <a:ext cx="41148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2"/>
          <p:cNvSpPr/>
          <p:nvPr/>
        </p:nvSpPr>
        <p:spPr>
          <a:xfrm>
            <a:off x="4864608" y="465429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Slot availability counter in real-time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HEROES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Gamified Badge System — 7 Tiers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01752" y="1069848"/>
            <a:ext cx="5212080" cy="297180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120640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115568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0" y="1115568"/>
            <a:ext cx="91440" cy="347472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9" name="Text 6"/>
          <p:cNvSpPr/>
          <p:nvPr/>
        </p:nvSpPr>
        <p:spPr>
          <a:xfrm>
            <a:off x="5870448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C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52360" y="114300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0+ pts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15000" y="1508760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0" y="1508760"/>
            <a:ext cx="91440" cy="347472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3" name="Text 10"/>
          <p:cNvSpPr/>
          <p:nvPr/>
        </p:nvSpPr>
        <p:spPr>
          <a:xfrm>
            <a:off x="5870448" y="1536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D7F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BRONZE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452360" y="15361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15000" y="1901952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15000" y="1901952"/>
            <a:ext cx="91440" cy="347472"/>
          </a:xfrm>
          <a:prstGeom prst="rect">
            <a:avLst/>
          </a:prstGeom>
          <a:solidFill>
            <a:srgbClr val="A8A9AD"/>
          </a:solidFill>
          <a:ln/>
        </p:spPr>
      </p:sp>
      <p:sp>
        <p:nvSpPr>
          <p:cNvPr id="17" name="Text 14"/>
          <p:cNvSpPr/>
          <p:nvPr/>
        </p:nvSpPr>
        <p:spPr>
          <a:xfrm>
            <a:off x="5870448" y="1929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A9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52360" y="192938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pts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15000" y="2295144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15000" y="2295144"/>
            <a:ext cx="91440" cy="34747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8"/>
          <p:cNvSpPr/>
          <p:nvPr/>
        </p:nvSpPr>
        <p:spPr>
          <a:xfrm>
            <a:off x="5870448" y="2322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452360" y="2322576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pts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15000" y="2688336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15000" y="2688336"/>
            <a:ext cx="9144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5870448" y="2715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PLATINUM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452360" y="2715768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pts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715000" y="3081528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715000" y="3081528"/>
            <a:ext cx="91440" cy="34747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9" name="Text 26"/>
          <p:cNvSpPr/>
          <p:nvPr/>
        </p:nvSpPr>
        <p:spPr>
          <a:xfrm>
            <a:off x="5870448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5D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DIAMOND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452360" y="31089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pts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715000" y="3474720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715000" y="3474720"/>
            <a:ext cx="91440" cy="3474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3" name="Text 30"/>
          <p:cNvSpPr/>
          <p:nvPr/>
        </p:nvSpPr>
        <p:spPr>
          <a:xfrm>
            <a:off x="5870448" y="3502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LEGEND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452360" y="350215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2500+ pts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715000" y="3895344"/>
            <a:ext cx="3090672" cy="594360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806440" y="3931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Earn XP with every donation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806440" y="41788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tiers · Unlock achievements · Top the leaderboard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STATS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Achievements &amp; Analytics Dashboard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206240" cy="240487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4114800" cy="23134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493008"/>
            <a:ext cx="411480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Achievements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3931920"/>
            <a:ext cx="41148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39319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Gold rank — 450 XP points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4206240"/>
            <a:ext cx="4114800" cy="246888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3" name="Text 10"/>
          <p:cNvSpPr/>
          <p:nvPr/>
        </p:nvSpPr>
        <p:spPr>
          <a:xfrm>
            <a:off x="384048" y="42062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9 Donations · 27 Lives saved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4480560"/>
            <a:ext cx="41148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44805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#1 Rank · Top 78 percentile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4754880"/>
            <a:ext cx="4114800" cy="246888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7" name="Text 14"/>
          <p:cNvSpPr/>
          <p:nvPr/>
        </p:nvSpPr>
        <p:spPr>
          <a:xfrm>
            <a:off x="384048" y="47548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Unlocked: First Drop badge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98848" y="1143000"/>
            <a:ext cx="0" cy="36576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1097280"/>
            <a:ext cx="4206240" cy="240487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43000"/>
            <a:ext cx="4114800" cy="231343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754880" y="3493008"/>
            <a:ext cx="411480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Blood Analytics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754880" y="3931920"/>
            <a:ext cx="41148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0"/>
          <p:cNvSpPr/>
          <p:nvPr/>
        </p:nvSpPr>
        <p:spPr>
          <a:xfrm>
            <a:off x="4864608" y="39319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Live blood group inventory (A+, B+, O+…)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54880" y="4206240"/>
            <a:ext cx="4114800" cy="246888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6" name="Text 22"/>
          <p:cNvSpPr/>
          <p:nvPr/>
        </p:nvSpPr>
        <p:spPr>
          <a:xfrm>
            <a:off x="4864608" y="42062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Active donors count · Urgent request alerts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754880" y="4480560"/>
            <a:ext cx="41148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4"/>
          <p:cNvSpPr/>
          <p:nvPr/>
        </p:nvSpPr>
        <p:spPr>
          <a:xfrm>
            <a:off x="4864608" y="44805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Regional critical needs per city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54880" y="4754880"/>
            <a:ext cx="4114800" cy="246888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0" name="Text 26"/>
          <p:cNvSpPr/>
          <p:nvPr/>
        </p:nvSpPr>
        <p:spPr>
          <a:xfrm>
            <a:off x="4864608" y="47548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Real-time supply &amp; demand tracking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MODULE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 Hub — Live Feed &amp; Stories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solidFill>
            <a:srgbClr val="F59E0B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 NEW 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" y="1124712"/>
            <a:ext cx="5230368" cy="2980944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70432"/>
            <a:ext cx="5138928" cy="28895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70448" y="1170432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70448" y="1170432"/>
            <a:ext cx="29260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5961888" y="128016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📰 News &amp; Awareness Panel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61888" y="1591056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articles — WHO blood shortage alerts, pre-donation health tips, Red Cross iron diet guide &amp; FDA guidelines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70448" y="2066544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70448" y="2066544"/>
            <a:ext cx="2926080" cy="640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6" name="Text 13"/>
          <p:cNvSpPr/>
          <p:nvPr/>
        </p:nvSpPr>
        <p:spPr>
          <a:xfrm>
            <a:off x="5961888" y="2176272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✍️ Share Your Story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61888" y="2487168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post their donation journey to inspire others — with blood group tag, likes, comments &amp; share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70448" y="2962656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70448" y="2962656"/>
            <a:ext cx="292608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7"/>
          <p:cNvSpPr/>
          <p:nvPr/>
        </p:nvSpPr>
        <p:spPr>
          <a:xfrm>
            <a:off x="5961888" y="3072384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❤️ Like · Comment · Share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61888" y="3383280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social interaction on each post — 3 likes, 1 comment shown live on Dhruv Rajput's post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70448" y="3858768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70448" y="3858768"/>
            <a:ext cx="29260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5961888" y="3968496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📡 Live Feed Badge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61888" y="4279392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community feed labelled LIVE FEED — always shows the latest donor stories first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4105656"/>
            <a:ext cx="5138928" cy="658368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4105656"/>
            <a:ext cx="91440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41422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 Why Community Matters: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30352" y="434340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stories inspire others to donate. A single post saying 'I saved 3 lives today' can motivate hundreds of new donors to register and act.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DASHBOARD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Sanctuary Overview — Personal Command Center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01752" y="1069848"/>
            <a:ext cx="5257800" cy="299923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166360" cy="2907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115568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115568"/>
            <a:ext cx="91440" cy="66751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9" name="Text 6"/>
          <p:cNvSpPr/>
          <p:nvPr/>
        </p:nvSpPr>
        <p:spPr>
          <a:xfrm>
            <a:off x="6062472" y="118872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 Personalised Greeting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62472" y="1463040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message with impact level, total XP &amp; lives saved count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97880" y="1865376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1865376"/>
            <a:ext cx="91440" cy="6675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0"/>
          <p:cNvSpPr/>
          <p:nvPr/>
        </p:nvSpPr>
        <p:spPr>
          <a:xfrm>
            <a:off x="6062472" y="193852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4 Live Stats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062472" y="2212848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actions · Pending review · Lives impacted · Health points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2615184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2615184"/>
            <a:ext cx="91440" cy="66751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4"/>
          <p:cNvSpPr/>
          <p:nvPr/>
        </p:nvSpPr>
        <p:spPr>
          <a:xfrm>
            <a:off x="6062472" y="2688336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 Emergency Requests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062472" y="2962656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urgent blood needs for a patient instantly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3364992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97880" y="3364992"/>
            <a:ext cx="91440" cy="667512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21" name="Text 18"/>
          <p:cNvSpPr/>
          <p:nvPr/>
        </p:nvSpPr>
        <p:spPr>
          <a:xfrm>
            <a:off x="6062472" y="3438144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🩸  Offer Donation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62472" y="3712464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active verified donation sessions near you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97880" y="4114800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97880" y="4114800"/>
            <a:ext cx="91440" cy="6675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6062472" y="4187952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 My Journey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062472" y="4462272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medical timeline of all past donation events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PROFILE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Community Profile — View &amp; Edit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solidFill>
            <a:srgbClr val="F59E0B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 NEW 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" y="1069848"/>
            <a:ext cx="5230368" cy="2980944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138928" cy="28895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70448" y="1115568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70448" y="1115568"/>
            <a:ext cx="91440" cy="7772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188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 Donor Identity Card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35040" y="1463040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profile photo, full name, Verified Account badge, email, mobile, city &amp; blood group in a clean card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70448" y="2011680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70448" y="2011680"/>
            <a:ext cx="91440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0848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✏️  Propose Profile Changes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35040" y="2359152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can propose updates to their name, photo, mobile number, city and state — reviewed by admin before going live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70448" y="2907792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70448" y="2907792"/>
            <a:ext cx="91440" cy="777240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29809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Email Locked by System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035040" y="3255264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 is locked and cannot be changed to maintain account integrity and prevent misuse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70448" y="3803904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70448" y="3803904"/>
            <a:ext cx="9144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035040" y="38770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Submit for Admin Review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035040" y="4151376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profile change requests are sent to the admin pipeline — changes only reflect after approval to keep data verified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47472" y="4059936"/>
            <a:ext cx="5138928" cy="65836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47472" y="4059936"/>
            <a:ext cx="91440" cy="6583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7" name="Text 24"/>
          <p:cNvSpPr/>
          <p:nvPr/>
        </p:nvSpPr>
        <p:spPr>
          <a:xfrm>
            <a:off x="530352" y="4096512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donor profile is publicly verified with a Verified Account badge. Blood group is prominently displayed so hospitals and admins can identify compatible donors instantly in an emergency.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Request · Offer Donation · My Journey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46888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0432"/>
            <a:ext cx="2761488" cy="1554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2608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Request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20040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urgent blood needs — patient name, blood group, units, hospital &amp; city location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91256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1170432"/>
            <a:ext cx="2761488" cy="1554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36976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0"/>
          <p:cNvSpPr/>
          <p:nvPr/>
        </p:nvSpPr>
        <p:spPr>
          <a:xfrm>
            <a:off x="3236976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Offer Donation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10128" y="320040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active camp sessions — select blood group, current age &amp; health declaration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35624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170432"/>
            <a:ext cx="2761488" cy="1554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81344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4"/>
          <p:cNvSpPr/>
          <p:nvPr/>
        </p:nvSpPr>
        <p:spPr>
          <a:xfrm>
            <a:off x="6181344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Journey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54496" y="320040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timeline of every donation event with blood type &amp; completion status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090672" y="1170432"/>
            <a:ext cx="0" cy="283464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16752" y="1170432"/>
            <a:ext cx="0" cy="283464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92608" y="4041648"/>
            <a:ext cx="8577072" cy="7132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40965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All donor actions are tracked, reviewed by admin, and rewarded with XP points to climb the Heroes leaderboard.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 ·  COMPATIBILITY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Blood Compatibility Checker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solidFill>
            <a:srgbClr val="F59E0B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 NEW PAGE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" y="1069848"/>
            <a:ext cx="5230368" cy="2980944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138928" cy="28895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70448" y="1115568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70448" y="1115568"/>
            <a:ext cx="91440" cy="7772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188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🩸  8 Blood Group Buttons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35040" y="1463040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blood group (A+, A-, B+, B-, AB+, AB-, O+, O-) with one click — active group highlighted in red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70448" y="2011680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70448" y="2011680"/>
            <a:ext cx="91440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0848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Can Give To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35040" y="2359152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compatible recipient blood types instantly with colour-coded badges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70448" y="2907792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70448" y="2907792"/>
            <a:ext cx="91440" cy="777240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29809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📥  Can Receive From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035040" y="3255264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donor types are compatible for the selected blood group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70448" y="3803904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70448" y="3803904"/>
            <a:ext cx="9144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035040" y="38770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Universal Donor Alert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035040" y="4151376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info card: O- identified as Universal Donor with emergency note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47472" y="4069080"/>
            <a:ext cx="5138928" cy="65836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2920" y="4114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Why this matters: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2920" y="43159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emergencies, knowing blood compatibility instantly can be the difference between life and death. This tool educates donors and medical staff with zero friction.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 ·  AI MODULE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LifeFlow AI — Intelligent Health Companion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solidFill>
            <a:srgbClr val="F59E0B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 NEW 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" y="1124712"/>
            <a:ext cx="5230368" cy="2980944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70432"/>
            <a:ext cx="5138928" cy="28895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7472" y="4105656"/>
            <a:ext cx="5138928" cy="658368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4133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Quick-action buttons inside the chat: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425696"/>
            <a:ext cx="1170432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4256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How to Donate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737360" y="4425696"/>
            <a:ext cx="1170432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2"/>
          <p:cNvSpPr/>
          <p:nvPr/>
        </p:nvSpPr>
        <p:spPr>
          <a:xfrm>
            <a:off x="1737360" y="44256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Need Blood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971800" y="4425696"/>
            <a:ext cx="1170432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4"/>
          <p:cNvSpPr/>
          <p:nvPr/>
        </p:nvSpPr>
        <p:spPr>
          <a:xfrm>
            <a:off x="2971800" y="44256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🏕️ Find Camps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06240" y="4425696"/>
            <a:ext cx="1170432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0" y="44256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Eligibility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70448" y="1170432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70448" y="1170432"/>
            <a:ext cx="2926080" cy="640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2" name="Text 19"/>
          <p:cNvSpPr/>
          <p:nvPr/>
        </p:nvSpPr>
        <p:spPr>
          <a:xfrm>
            <a:off x="5961888" y="128016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LifeFlow AI — Active Nexus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61888" y="1591056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Always-available AI companion embedded in the donor dashboard sidebar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70448" y="2066544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70448" y="2066544"/>
            <a:ext cx="292608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3"/>
          <p:cNvSpPr/>
          <p:nvPr/>
        </p:nvSpPr>
        <p:spPr>
          <a:xfrm>
            <a:off x="5961888" y="2176272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Natural Language Chat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61888" y="2487168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type questions; the AI responds with contextual blood donation guidance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70448" y="2962656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70448" y="2962656"/>
            <a:ext cx="2926080" cy="64008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30" name="Text 27"/>
          <p:cNvSpPr/>
          <p:nvPr/>
        </p:nvSpPr>
        <p:spPr>
          <a:xfrm>
            <a:off x="5961888" y="3072384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One-tap Quick Actions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61888" y="3383280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pre-built action buttons: How to Donate · Need Blood · Find Camps · Eligibility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70448" y="3858768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870448" y="3858768"/>
            <a:ext cx="29260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1"/>
          <p:cNvSpPr/>
          <p:nvPr/>
        </p:nvSpPr>
        <p:spPr>
          <a:xfrm>
            <a:off x="5961888" y="3968496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Nexus Secured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61888" y="4279392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sessions are secured with end-to-end encryption labelled 'NEXUS SECURED'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ADMIN PANEL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Monitor &amp; Control Center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ADMIN PANEL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Monitor &amp; Control Center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301752" y="1124712"/>
            <a:ext cx="5257800" cy="299923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70432"/>
            <a:ext cx="5166360" cy="29077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897880" y="1170432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97880" y="1170432"/>
            <a:ext cx="91440" cy="6675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1"/>
          <p:cNvSpPr/>
          <p:nvPr/>
        </p:nvSpPr>
        <p:spPr>
          <a:xfrm>
            <a:off x="6062472" y="1243584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Live Monitor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062472" y="1517904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overview: donors, orgs, pending requests &amp; approved camps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1920240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97880" y="1920240"/>
            <a:ext cx="91440" cy="66751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5"/>
          <p:cNvSpPr/>
          <p:nvPr/>
        </p:nvSpPr>
        <p:spPr>
          <a:xfrm>
            <a:off x="6062472" y="1993392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🩸  Blood Requests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062472" y="2267712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dismiss hospital blood requests with blood type info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97880" y="2670048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97880" y="2670048"/>
            <a:ext cx="91440" cy="667512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22" name="Text 19"/>
          <p:cNvSpPr/>
          <p:nvPr/>
        </p:nvSpPr>
        <p:spPr>
          <a:xfrm>
            <a:off x="6062472" y="274320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🏕️  Camp Approvals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062472" y="3017520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camp submissions from organisations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97880" y="3419856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97880" y="3419856"/>
            <a:ext cx="91440" cy="6675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6062472" y="349300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 User Registry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062472" y="3767328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directory of all registered donors with blood group details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97880" y="4169664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97880" y="4169664"/>
            <a:ext cx="91440" cy="6675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6062472" y="4242816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 Organisations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062472" y="4517136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partner clinics and verified donation centres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— DETAILS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Blood Requests · Donation Pipeline · Subject Registry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46888" y="1069848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15568"/>
            <a:ext cx="2761488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2608" y="2706624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" y="279806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Blood Requests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145536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incoming hospital requests — shows blood type, units needed &amp; hospital location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91256" y="1069848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1115568"/>
            <a:ext cx="2761488" cy="1554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36976" y="2706624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9"/>
          <p:cNvSpPr/>
          <p:nvPr/>
        </p:nvSpPr>
        <p:spPr>
          <a:xfrm>
            <a:off x="3236976" y="279806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Donation Pipeline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10128" y="3145536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donation offers from community donors — one-click Accept or Reject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35624" y="1069848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115568"/>
            <a:ext cx="2761488" cy="15544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81344" y="2706624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3"/>
          <p:cNvSpPr/>
          <p:nvPr/>
        </p:nvSpPr>
        <p:spPr>
          <a:xfrm>
            <a:off x="6181344" y="279806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Subject Registry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54496" y="3145536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donor directory with name, email, blood group and donor type badges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090672" y="1115568"/>
            <a:ext cx="0" cy="29260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16752" y="1115568"/>
            <a:ext cx="0" cy="29260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92608" y="4059936"/>
            <a:ext cx="8577072" cy="71323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3" name="Text 18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 Nexus gives complete system control — approve/reject requests, manage users, monitor blood supply and oversee all organisations from one central panel.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PORTAL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 Dashboard, Camp Creation &amp; Management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46888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0432"/>
            <a:ext cx="2761488" cy="1554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2608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 Dashboard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20040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screen · Total/Approved/Pending camps · Quick actions panel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91256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1170432"/>
            <a:ext cx="2761488" cy="1554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36976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0"/>
          <p:cNvSpPr/>
          <p:nvPr/>
        </p:nvSpPr>
        <p:spPr>
          <a:xfrm>
            <a:off x="3236976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Donation Camp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10128" y="320040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name · Description · Date/Time · Address · Slots · Blood types · Phone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35624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170432"/>
            <a:ext cx="2761488" cy="1554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81344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4"/>
          <p:cNvSpPr/>
          <p:nvPr/>
        </p:nvSpPr>
        <p:spPr>
          <a:xfrm>
            <a:off x="6181344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Camps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54496" y="320040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submitted camps — view APPROVED badge, schedule &amp; slot count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090672" y="1170432"/>
            <a:ext cx="0" cy="256032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16752" y="1170432"/>
            <a:ext cx="0" cy="256032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46888" y="3721608"/>
            <a:ext cx="8668512" cy="114300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3767328"/>
            <a:ext cx="8577072" cy="10515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" y="3822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Organisations — Verified clinics &amp; donation centers visible to Admin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Modern Technologies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34440"/>
            <a:ext cx="2029968" cy="3611880"/>
          </a:xfrm>
          <a:prstGeom prst="rect">
            <a:avLst/>
          </a:prstGeom>
          <a:solidFill>
            <a:srgbClr val="2525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34440"/>
            <a:ext cx="2029968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35331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" y="1847088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" y="184708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" y="2560320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" y="25603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" y="3273552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" y="32735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" y="3986784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" y="398678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React-Leaflet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23744" y="1234440"/>
            <a:ext cx="2029968" cy="3611880"/>
          </a:xfrm>
          <a:prstGeom prst="rect">
            <a:avLst/>
          </a:prstGeom>
          <a:solidFill>
            <a:srgbClr val="2525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23744" y="1234440"/>
            <a:ext cx="2029968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2523744" y="135331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42616" y="1847088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42616" y="184708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42616" y="2560320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42616" y="25603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v5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42616" y="3273552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42616" y="32735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42616" y="3986784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42616" y="398678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0016" y="1234440"/>
            <a:ext cx="2029968" cy="3611880"/>
          </a:xfrm>
          <a:prstGeom prst="rect">
            <a:avLst/>
          </a:prstGeom>
          <a:solidFill>
            <a:srgbClr val="2525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0016" y="1234440"/>
            <a:ext cx="2029968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700016" y="135331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18888" y="1847088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18888" y="184708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18888" y="2560320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18888" y="25603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ORM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18888" y="3273552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18888" y="32735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18888" y="3986784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18888" y="398678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Driver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76288" y="1234440"/>
            <a:ext cx="2029968" cy="3611880"/>
          </a:xfrm>
          <a:prstGeom prst="rect">
            <a:avLst/>
          </a:prstGeom>
          <a:solidFill>
            <a:srgbClr val="2525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76288" y="1234440"/>
            <a:ext cx="2029968" cy="914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2" name="Text 40"/>
          <p:cNvSpPr/>
          <p:nvPr/>
        </p:nvSpPr>
        <p:spPr>
          <a:xfrm>
            <a:off x="6876288" y="135331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Libraries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95160" y="1847088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995160" y="184708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Tool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95160" y="2560320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95160" y="25603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995160" y="3273552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995160" y="32735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HTTP Client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95160" y="3986784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995160" y="398678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SET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LifeFlow Offers — 19 Features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057400" cy="731520"/>
          </a:xfrm>
          <a:prstGeom prst="rect">
            <a:avLst/>
          </a:prstGeom>
          <a:solidFill>
            <a:srgbClr val="FFF0F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🏠 Smart Homepage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· live ticker · hospital trust badge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70432"/>
            <a:ext cx="2057400" cy="731520"/>
          </a:xfrm>
          <a:prstGeom prst="rect">
            <a:avLst/>
          </a:prstGeom>
          <a:solidFill>
            <a:srgbClr val="FFF0F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70432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Camp Finder 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5727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verified camps · filters · slot counter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70432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🩺 Why Donate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5727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section with 3 key reasons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1170432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170432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7-Tier Badges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15727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→ Legend gamification with XP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975104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975104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066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Donor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· rank · percentile · achievements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68880" y="1975104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1975104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2066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Emergency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requests routed to admin approval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975104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975104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066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🩸 Donation Offers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sessions with health declaration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1975104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1975104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2066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My Journey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donation history timeline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779776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2779776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Auth System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email · role-based routing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68880" y="2779776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68880" y="2779776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4" name="Text 42"/>
          <p:cNvSpPr/>
          <p:nvPr/>
        </p:nvSpPr>
        <p:spPr>
          <a:xfrm>
            <a:off x="2560320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Admin Nexus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6032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· blood stock · pipeline approvals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2779776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2779776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Org Portal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track camps · approval status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58000" y="2779776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58000" y="2779776"/>
            <a:ext cx="20574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Shape 50"/>
          <p:cNvSpPr/>
          <p:nvPr/>
        </p:nvSpPr>
        <p:spPr>
          <a:xfrm>
            <a:off x="8275320" y="2852928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8275320" y="285292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49440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🔬 Compatibility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4944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 checker — give/receive network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3584448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3584448"/>
            <a:ext cx="20574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Shape 56"/>
          <p:cNvSpPr/>
          <p:nvPr/>
        </p:nvSpPr>
        <p:spPr>
          <a:xfrm>
            <a:off x="1691640" y="3657600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1691640" y="36576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65760" y="3675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AI Chatbot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39867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 Nexus AI health companion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468880" y="3584448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468880" y="3584448"/>
            <a:ext cx="20574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Shape 62"/>
          <p:cNvSpPr/>
          <p:nvPr/>
        </p:nvSpPr>
        <p:spPr>
          <a:xfrm>
            <a:off x="3886200" y="3657600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3886200" y="36576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560320" y="3675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Donor Profile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560320" y="39867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edit verified donor identity card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3584448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63440" y="3584448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0" name="Shape 68"/>
          <p:cNvSpPr/>
          <p:nvPr/>
        </p:nvSpPr>
        <p:spPr>
          <a:xfrm>
            <a:off x="6080760" y="3657600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1" name="Text 69"/>
          <p:cNvSpPr/>
          <p:nvPr/>
        </p:nvSpPr>
        <p:spPr>
          <a:xfrm>
            <a:off x="6080760" y="36576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754880" y="3675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Community Hub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754880" y="39867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· donor stories · news &amp; awareness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858000" y="3584448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858000" y="3584448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6" name="Text 74"/>
          <p:cNvSpPr/>
          <p:nvPr/>
        </p:nvSpPr>
        <p:spPr>
          <a:xfrm>
            <a:off x="6949440" y="3675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🌙 Dark/Light Mode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949440" y="39867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theme toggle throughout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74320" y="4389120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274320" y="4389120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0" name="Text 78"/>
          <p:cNvSpPr/>
          <p:nvPr/>
        </p:nvSpPr>
        <p:spPr>
          <a:xfrm>
            <a:off x="36576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Responsive Design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65760" y="47914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tablet · desktop ready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468880" y="4389120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2468880" y="4389120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4" name="Text 82"/>
          <p:cNvSpPr/>
          <p:nvPr/>
        </p:nvSpPr>
        <p:spPr>
          <a:xfrm>
            <a:off x="25603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Nexus Secured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560320" y="47914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secure AI sessions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663440" y="4389120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4663440" y="4389120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🏅 Leaderboard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754880" y="47914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heroes ranking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320040"/>
            <a:ext cx="2286000" cy="2286000"/>
          </a:xfrm>
          <a:prstGeom prst="ellipse">
            <a:avLst/>
          </a:prstGeom>
          <a:solidFill>
            <a:srgbClr val="C8102E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3200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❤️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633472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4015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Drop Counts. Every Hero Matters.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3913632"/>
            <a:ext cx="6949440" cy="74980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39502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❤ LifeFlow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42245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Donation Platform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84448" y="39502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React + Node.js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84448" y="42245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88736" y="39502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2025–2026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88736" y="42245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1639</Words>
  <Application>Microsoft Office PowerPoint</Application>
  <PresentationFormat>On-screen Show (16:9)</PresentationFormat>
  <Paragraphs>309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LifeFlow — Blood Donation Platform</dc:title>
  <dc:subject>PptxGenJS Presentation</dc:subject>
  <dc:creator>Dhruv Rajput</dc:creator>
  <cp:lastModifiedBy>Dhruv Rajput</cp:lastModifiedBy>
  <cp:revision>4</cp:revision>
  <dcterms:created xsi:type="dcterms:W3CDTF">2026-03-27T05:44:16Z</dcterms:created>
  <dcterms:modified xsi:type="dcterms:W3CDTF">2026-04-25T04:23:34Z</dcterms:modified>
</cp:coreProperties>
</file>